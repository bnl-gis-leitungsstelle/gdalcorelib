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8505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182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632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2259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883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656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4373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9870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8153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922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376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1A4D8-EFF7-4BF9-AC3C-4BFBCCD56EE7}" type="datetimeFigureOut">
              <a:rPr lang="de-CH" smtClean="0"/>
              <a:t>14.07.2024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07E4C-A358-48A3-B55B-3FED2A4529D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7266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2510869" y="948591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Shape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869" y="405590"/>
            <a:ext cx="815191" cy="522089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192309" y="522099"/>
            <a:ext cx="666208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CH" i="1" dirty="0"/>
              <a:t>DATA</a:t>
            </a: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590" y="408159"/>
            <a:ext cx="707200" cy="519520"/>
          </a:xfrm>
          <a:prstGeom prst="rect">
            <a:avLst/>
          </a:prstGeom>
        </p:spPr>
      </p:pic>
      <p:sp>
        <p:nvSpPr>
          <p:cNvPr id="9" name="Textfeld 8"/>
          <p:cNvSpPr txBox="1"/>
          <p:nvPr/>
        </p:nvSpPr>
        <p:spPr>
          <a:xfrm>
            <a:off x="3439527" y="948591"/>
            <a:ext cx="13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Geopackage</a:t>
            </a:r>
            <a:endParaRPr lang="de-CH" dirty="0"/>
          </a:p>
        </p:txBody>
      </p:sp>
      <p:sp>
        <p:nvSpPr>
          <p:cNvPr id="10" name="Textfeld 9"/>
          <p:cNvSpPr txBox="1"/>
          <p:nvPr/>
        </p:nvSpPr>
        <p:spPr>
          <a:xfrm>
            <a:off x="5313836" y="960228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File-GDB</a:t>
            </a: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501" y="492423"/>
            <a:ext cx="1390844" cy="428685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192309" y="1985945"/>
            <a:ext cx="125996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CH" dirty="0" err="1"/>
              <a:t>DataSource</a:t>
            </a:r>
            <a:endParaRPr lang="de-CH" dirty="0"/>
          </a:p>
        </p:txBody>
      </p:sp>
      <p:sp>
        <p:nvSpPr>
          <p:cNvPr id="13" name="Textfeld 12"/>
          <p:cNvSpPr txBox="1"/>
          <p:nvPr/>
        </p:nvSpPr>
        <p:spPr>
          <a:xfrm>
            <a:off x="2510870" y="1464109"/>
            <a:ext cx="4264399" cy="49244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CH" dirty="0" err="1"/>
              <a:t>DataAccessor</a:t>
            </a:r>
            <a:endParaRPr lang="de-CH" dirty="0"/>
          </a:p>
          <a:p>
            <a:pPr algn="ctr"/>
            <a:r>
              <a:rPr lang="de-CH" sz="800" dirty="0"/>
              <a:t>SQL, </a:t>
            </a:r>
            <a:r>
              <a:rPr lang="de-CH" sz="800" dirty="0" err="1"/>
              <a:t>Metadata</a:t>
            </a:r>
            <a:endParaRPr lang="de-CH" sz="800" dirty="0"/>
          </a:p>
        </p:txBody>
      </p:sp>
      <p:sp>
        <p:nvSpPr>
          <p:cNvPr id="14" name="Textfeld 13"/>
          <p:cNvSpPr txBox="1"/>
          <p:nvPr/>
        </p:nvSpPr>
        <p:spPr>
          <a:xfrm>
            <a:off x="3533342" y="1967990"/>
            <a:ext cx="188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DataSource</a:t>
            </a:r>
            <a:r>
              <a:rPr lang="de-CH" dirty="0"/>
              <a:t> &amp; Info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2510870" y="2600577"/>
            <a:ext cx="4264399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CH" dirty="0" err="1"/>
              <a:t>LayerAccessor</a:t>
            </a:r>
            <a:endParaRPr lang="de-CH" dirty="0"/>
          </a:p>
        </p:txBody>
      </p:sp>
      <p:sp>
        <p:nvSpPr>
          <p:cNvPr id="16" name="Textfeld 15"/>
          <p:cNvSpPr txBox="1"/>
          <p:nvPr/>
        </p:nvSpPr>
        <p:spPr>
          <a:xfrm>
            <a:off x="192309" y="3157248"/>
            <a:ext cx="148951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CH" dirty="0"/>
              <a:t>Layer (</a:t>
            </a:r>
            <a:r>
              <a:rPr lang="de-CH" dirty="0" err="1"/>
              <a:t>Vector</a:t>
            </a:r>
            <a:r>
              <a:rPr lang="de-CH" dirty="0"/>
              <a:t>)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4085152" y="3048498"/>
            <a:ext cx="685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Layer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824747" y="5399705"/>
            <a:ext cx="1128771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CH" dirty="0" err="1"/>
              <a:t>Geometry</a:t>
            </a:r>
            <a:endParaRPr lang="de-CH" dirty="0"/>
          </a:p>
        </p:txBody>
      </p:sp>
      <p:sp>
        <p:nvSpPr>
          <p:cNvPr id="19" name="Textfeld 18"/>
          <p:cNvSpPr txBox="1"/>
          <p:nvPr/>
        </p:nvSpPr>
        <p:spPr>
          <a:xfrm>
            <a:off x="7045234" y="3955442"/>
            <a:ext cx="3483429" cy="49244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de-DE"/>
            </a:defPPr>
            <a:lvl1pPr algn="ctr"/>
          </a:lstStyle>
          <a:p>
            <a:r>
              <a:rPr lang="de-CH" dirty="0" err="1"/>
              <a:t>GeoProcessor</a:t>
            </a:r>
            <a:endParaRPr lang="de-CH" dirty="0"/>
          </a:p>
          <a:p>
            <a:r>
              <a:rPr lang="de-CH" sz="800" dirty="0"/>
              <a:t>( &gt; 1 Layer)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7890614" y="1464109"/>
            <a:ext cx="908134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de-DE"/>
            </a:defPPr>
            <a:lvl1pPr algn="ctr"/>
          </a:lstStyle>
          <a:p>
            <a:r>
              <a:rPr lang="de-CH" dirty="0" err="1"/>
              <a:t>Logging</a:t>
            </a:r>
            <a:endParaRPr lang="de-CH" dirty="0"/>
          </a:p>
        </p:txBody>
      </p:sp>
      <p:sp>
        <p:nvSpPr>
          <p:cNvPr id="21" name="Textfeld 20"/>
          <p:cNvSpPr txBox="1"/>
          <p:nvPr/>
        </p:nvSpPr>
        <p:spPr>
          <a:xfrm>
            <a:off x="10465907" y="575191"/>
            <a:ext cx="128112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CH" dirty="0" err="1"/>
              <a:t>FileGdb</a:t>
            </a:r>
            <a:r>
              <a:rPr lang="de-CH" dirty="0"/>
              <a:t>-API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2510869" y="3623156"/>
            <a:ext cx="4264400" cy="49244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de-DE"/>
            </a:defPPr>
            <a:lvl1pPr algn="ctr"/>
          </a:lstStyle>
          <a:p>
            <a:r>
              <a:rPr lang="de-CH" dirty="0" err="1"/>
              <a:t>LayerProcessor</a:t>
            </a:r>
            <a:endParaRPr lang="de-CH" dirty="0"/>
          </a:p>
          <a:p>
            <a:r>
              <a:rPr lang="de-CH" sz="800" dirty="0" err="1"/>
              <a:t>One</a:t>
            </a:r>
            <a:r>
              <a:rPr lang="de-CH" sz="800" dirty="0"/>
              <a:t> Layer: Filter, </a:t>
            </a:r>
            <a:r>
              <a:rPr lang="de-CH" sz="800" dirty="0" err="1"/>
              <a:t>GeoValidation</a:t>
            </a:r>
            <a:r>
              <a:rPr lang="de-CH" sz="800" dirty="0"/>
              <a:t>, </a:t>
            </a:r>
            <a:r>
              <a:rPr lang="de-CH" sz="800" dirty="0" err="1"/>
              <a:t>Dissolve</a:t>
            </a:r>
            <a:r>
              <a:rPr lang="de-CH" sz="800" dirty="0"/>
              <a:t>, CRUD - Attributes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4712602" y="5399705"/>
            <a:ext cx="2072642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de-DE"/>
            </a:defPPr>
            <a:lvl1pPr algn="ctr"/>
          </a:lstStyle>
          <a:p>
            <a:r>
              <a:rPr lang="de-CH" dirty="0" err="1"/>
              <a:t>GeometryProcessor</a:t>
            </a:r>
            <a:endParaRPr lang="de-CH" dirty="0"/>
          </a:p>
        </p:txBody>
      </p:sp>
      <p:sp>
        <p:nvSpPr>
          <p:cNvPr id="24" name="Textfeld 23"/>
          <p:cNvSpPr txBox="1"/>
          <p:nvPr/>
        </p:nvSpPr>
        <p:spPr>
          <a:xfrm>
            <a:off x="192309" y="4328551"/>
            <a:ext cx="1132403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CH" dirty="0"/>
              <a:t>Feature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2510869" y="4328551"/>
            <a:ext cx="4264400" cy="49244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de-DE"/>
            </a:defPPr>
            <a:lvl1pPr algn="ctr"/>
          </a:lstStyle>
          <a:p>
            <a:r>
              <a:rPr lang="de-CH" dirty="0" err="1"/>
              <a:t>FeatureProcessor</a:t>
            </a:r>
            <a:endParaRPr lang="de-CH" dirty="0"/>
          </a:p>
          <a:p>
            <a:r>
              <a:rPr lang="de-CH" sz="800" dirty="0"/>
              <a:t>CRUD – </a:t>
            </a:r>
            <a:r>
              <a:rPr lang="de-CH" sz="800"/>
              <a:t>Attribute Content</a:t>
            </a:r>
            <a:endParaRPr lang="de-CH" sz="800" dirty="0"/>
          </a:p>
        </p:txBody>
      </p:sp>
      <p:sp>
        <p:nvSpPr>
          <p:cNvPr id="26" name="Textfeld 25"/>
          <p:cNvSpPr txBox="1"/>
          <p:nvPr/>
        </p:nvSpPr>
        <p:spPr>
          <a:xfrm>
            <a:off x="824747" y="4942505"/>
            <a:ext cx="1128771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CH" dirty="0"/>
              <a:t>Field</a:t>
            </a:r>
          </a:p>
        </p:txBody>
      </p:sp>
    </p:spTree>
    <p:extLst>
      <p:ext uri="{BB962C8B-B14F-4D97-AF65-F5344CB8AC3E}">
        <p14:creationId xmlns:p14="http://schemas.microsoft.com/office/powerpoint/2010/main" val="397143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442828"/>
              </p:ext>
            </p:extLst>
          </p:nvPr>
        </p:nvGraphicFramePr>
        <p:xfrm>
          <a:off x="2786744" y="688300"/>
          <a:ext cx="4236356" cy="1744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506">
                  <a:extLst>
                    <a:ext uri="{9D8B030D-6E8A-4147-A177-3AD203B41FA5}">
                      <a16:colId xmlns:a16="http://schemas.microsoft.com/office/drawing/2014/main" val="212828597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794734093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332065903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12775866"/>
                    </a:ext>
                  </a:extLst>
                </a:gridCol>
              </a:tblGrid>
              <a:tr h="373078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GPKG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FGDB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289492"/>
                  </a:ext>
                </a:extLst>
              </a:tr>
              <a:tr h="373078">
                <a:tc>
                  <a:txBody>
                    <a:bodyPr/>
                    <a:lstStyle/>
                    <a:p>
                      <a:r>
                        <a:rPr lang="de-CH" dirty="0"/>
                        <a:t>SHP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CreateDatasource</a:t>
                      </a:r>
                      <a:endParaRPr kumimoji="0" lang="de-CH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de-CH" sz="1400" dirty="0" err="1"/>
                        <a:t>CopyLayer</a:t>
                      </a:r>
                      <a:endParaRPr lang="de-CH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CreateDatasource</a:t>
                      </a:r>
                      <a:endParaRPr kumimoji="0" lang="de-CH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de-CH" sz="1400" dirty="0" err="1"/>
                        <a:t>CopyLayer</a:t>
                      </a:r>
                      <a:endParaRPr lang="de-CH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CreateDatasource</a:t>
                      </a:r>
                      <a:endParaRPr kumimoji="0" lang="de-CH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de-CH" sz="1400" dirty="0" err="1"/>
                        <a:t>CopyLayer</a:t>
                      </a:r>
                      <a:endParaRPr lang="de-CH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075966"/>
                  </a:ext>
                </a:extLst>
              </a:tr>
              <a:tr h="373078">
                <a:tc>
                  <a:txBody>
                    <a:bodyPr/>
                    <a:lstStyle/>
                    <a:p>
                      <a:r>
                        <a:rPr lang="de-CH" dirty="0"/>
                        <a:t>GPKG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CreateDatasource</a:t>
                      </a:r>
                      <a:endParaRPr kumimoji="0" lang="de-CH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de-CH" sz="1400" dirty="0" err="1">
                          <a:solidFill>
                            <a:schemeClr val="tx1"/>
                          </a:solidFill>
                        </a:rPr>
                        <a:t>CopyLayer</a:t>
                      </a:r>
                      <a:endParaRPr lang="de-CH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de-CH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Internal / External</a:t>
                      </a:r>
                    </a:p>
                    <a:p>
                      <a:pPr marL="0" algn="ctr" defTabSz="914400" rtl="0" eaLnBrk="1" latinLnBrk="0" hangingPunct="1"/>
                      <a:r>
                        <a:rPr lang="de-CH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CopyLayer</a:t>
                      </a:r>
                      <a:endParaRPr lang="de-CH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CreateDatasource</a:t>
                      </a:r>
                      <a:endParaRPr kumimoji="0" lang="de-CH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de-CH" sz="1400" dirty="0" err="1">
                          <a:solidFill>
                            <a:schemeClr val="tx1"/>
                          </a:solidFill>
                        </a:rPr>
                        <a:t>CopyLayer</a:t>
                      </a:r>
                      <a:endParaRPr lang="de-CH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55637"/>
                  </a:ext>
                </a:extLst>
              </a:tr>
              <a:tr h="373078">
                <a:tc>
                  <a:txBody>
                    <a:bodyPr/>
                    <a:lstStyle/>
                    <a:p>
                      <a:r>
                        <a:rPr lang="de-CH" dirty="0"/>
                        <a:t>FGDB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CreateDatasource</a:t>
                      </a:r>
                      <a:endParaRPr kumimoji="0" lang="de-CH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de-CH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CopyLayer</a:t>
                      </a:r>
                      <a:endParaRPr lang="de-CH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CopyLayer</a:t>
                      </a:r>
                      <a:endParaRPr lang="de-CH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Internal / External</a:t>
                      </a:r>
                    </a:p>
                    <a:p>
                      <a:pPr marL="0" algn="ctr" defTabSz="914400" rtl="0" eaLnBrk="1" latinLnBrk="0" hangingPunct="1"/>
                      <a:r>
                        <a:rPr lang="de-CH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CopyLayer</a:t>
                      </a:r>
                      <a:endParaRPr lang="de-CH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97564"/>
                  </a:ext>
                </a:extLst>
              </a:tr>
            </a:tbl>
          </a:graphicData>
        </a:graphic>
      </p:graphicFrame>
      <p:sp>
        <p:nvSpPr>
          <p:cNvPr id="5" name="Textfeld 4"/>
          <p:cNvSpPr txBox="1"/>
          <p:nvPr/>
        </p:nvSpPr>
        <p:spPr>
          <a:xfrm>
            <a:off x="3718560" y="318968"/>
            <a:ext cx="2053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Target - </a:t>
            </a:r>
            <a:r>
              <a:rPr lang="de-CH" dirty="0" err="1"/>
              <a:t>Datasource</a:t>
            </a:r>
            <a:r>
              <a:rPr lang="de-CH" dirty="0"/>
              <a:t> </a:t>
            </a:r>
          </a:p>
        </p:txBody>
      </p:sp>
      <p:sp>
        <p:nvSpPr>
          <p:cNvPr id="6" name="Textfeld 5"/>
          <p:cNvSpPr txBox="1"/>
          <p:nvPr/>
        </p:nvSpPr>
        <p:spPr>
          <a:xfrm rot="16200000">
            <a:off x="1841614" y="1319348"/>
            <a:ext cx="1243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Source – </a:t>
            </a:r>
          </a:p>
          <a:p>
            <a:r>
              <a:rPr lang="de-CH" dirty="0" err="1"/>
              <a:t>Datasource</a:t>
            </a:r>
            <a:endParaRPr lang="de-CH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194" y="834976"/>
            <a:ext cx="3570514" cy="161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1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5726470" y="288420"/>
            <a:ext cx="1572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Values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store</a:t>
            </a:r>
            <a:endParaRPr lang="de-CH" dirty="0"/>
          </a:p>
        </p:txBody>
      </p:sp>
      <p:sp>
        <p:nvSpPr>
          <p:cNvPr id="6" name="Textfeld 5"/>
          <p:cNvSpPr txBox="1"/>
          <p:nvPr/>
        </p:nvSpPr>
        <p:spPr>
          <a:xfrm rot="16200000">
            <a:off x="-532919" y="2851994"/>
            <a:ext cx="241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15 Fields in </a:t>
            </a:r>
            <a:r>
              <a:rPr lang="de-CH" dirty="0" err="1"/>
              <a:t>Datasource</a:t>
            </a:r>
            <a:endParaRPr lang="de-CH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506706"/>
              </p:ext>
            </p:extLst>
          </p:nvPr>
        </p:nvGraphicFramePr>
        <p:xfrm>
          <a:off x="857153" y="657752"/>
          <a:ext cx="10596413" cy="5200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49">
                  <a:extLst>
                    <a:ext uri="{9D8B030D-6E8A-4147-A177-3AD203B41FA5}">
                      <a16:colId xmlns:a16="http://schemas.microsoft.com/office/drawing/2014/main" val="3024814198"/>
                    </a:ext>
                  </a:extLst>
                </a:gridCol>
                <a:gridCol w="535749">
                  <a:extLst>
                    <a:ext uri="{9D8B030D-6E8A-4147-A177-3AD203B41FA5}">
                      <a16:colId xmlns:a16="http://schemas.microsoft.com/office/drawing/2014/main" val="2481418965"/>
                    </a:ext>
                  </a:extLst>
                </a:gridCol>
                <a:gridCol w="662001">
                  <a:extLst>
                    <a:ext uri="{9D8B030D-6E8A-4147-A177-3AD203B41FA5}">
                      <a16:colId xmlns:a16="http://schemas.microsoft.com/office/drawing/2014/main" val="3086208461"/>
                    </a:ext>
                  </a:extLst>
                </a:gridCol>
                <a:gridCol w="276657">
                  <a:extLst>
                    <a:ext uri="{9D8B030D-6E8A-4147-A177-3AD203B41FA5}">
                      <a16:colId xmlns:a16="http://schemas.microsoft.com/office/drawing/2014/main" val="2813806857"/>
                    </a:ext>
                  </a:extLst>
                </a:gridCol>
                <a:gridCol w="276658">
                  <a:extLst>
                    <a:ext uri="{9D8B030D-6E8A-4147-A177-3AD203B41FA5}">
                      <a16:colId xmlns:a16="http://schemas.microsoft.com/office/drawing/2014/main" val="3167111772"/>
                    </a:ext>
                  </a:extLst>
                </a:gridCol>
                <a:gridCol w="592010">
                  <a:extLst>
                    <a:ext uri="{9D8B030D-6E8A-4147-A177-3AD203B41FA5}">
                      <a16:colId xmlns:a16="http://schemas.microsoft.com/office/drawing/2014/main" val="1174774223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1720512840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2067201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75974513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998001497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4078127531"/>
                    </a:ext>
                  </a:extLst>
                </a:gridCol>
                <a:gridCol w="645477">
                  <a:extLst>
                    <a:ext uri="{9D8B030D-6E8A-4147-A177-3AD203B41FA5}">
                      <a16:colId xmlns:a16="http://schemas.microsoft.com/office/drawing/2014/main" val="3853652786"/>
                    </a:ext>
                  </a:extLst>
                </a:gridCol>
                <a:gridCol w="790449">
                  <a:extLst>
                    <a:ext uri="{9D8B030D-6E8A-4147-A177-3AD203B41FA5}">
                      <a16:colId xmlns:a16="http://schemas.microsoft.com/office/drawing/2014/main" val="1780138769"/>
                    </a:ext>
                  </a:extLst>
                </a:gridCol>
                <a:gridCol w="1106704">
                  <a:extLst>
                    <a:ext uri="{9D8B030D-6E8A-4147-A177-3AD203B41FA5}">
                      <a16:colId xmlns:a16="http://schemas.microsoft.com/office/drawing/2014/main" val="1326397586"/>
                    </a:ext>
                  </a:extLst>
                </a:gridCol>
                <a:gridCol w="775336">
                  <a:extLst>
                    <a:ext uri="{9D8B030D-6E8A-4147-A177-3AD203B41FA5}">
                      <a16:colId xmlns:a16="http://schemas.microsoft.com/office/drawing/2014/main" val="4264609277"/>
                    </a:ext>
                  </a:extLst>
                </a:gridCol>
                <a:gridCol w="637520">
                  <a:extLst>
                    <a:ext uri="{9D8B030D-6E8A-4147-A177-3AD203B41FA5}">
                      <a16:colId xmlns:a16="http://schemas.microsoft.com/office/drawing/2014/main" val="1624251395"/>
                    </a:ext>
                  </a:extLst>
                </a:gridCol>
              </a:tblGrid>
              <a:tr h="249634">
                <a:tc gridSpan="2">
                  <a:txBody>
                    <a:bodyPr/>
                    <a:lstStyle/>
                    <a:p>
                      <a:r>
                        <a:rPr lang="de-CH" sz="800" b="1" dirty="0"/>
                        <a:t>Feldname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 err="1"/>
                        <a:t>Int</a:t>
                      </a:r>
                      <a:endParaRPr lang="de-CH" sz="800" b="1" dirty="0"/>
                    </a:p>
                    <a:p>
                      <a:r>
                        <a:rPr lang="de-CH" sz="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Int64</a:t>
                      </a:r>
                    </a:p>
                    <a:p>
                      <a:r>
                        <a:rPr lang="de-CH" sz="800" b="1" dirty="0"/>
                        <a:t>3’147’483’647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Real</a:t>
                      </a:r>
                    </a:p>
                    <a:p>
                      <a:r>
                        <a:rPr lang="de-CH" sz="800" b="1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 err="1"/>
                        <a:t>RealBig</a:t>
                      </a:r>
                      <a:endParaRPr lang="de-CH" sz="800" b="1" dirty="0"/>
                    </a:p>
                    <a:p>
                      <a:r>
                        <a:rPr lang="de-CH" sz="800" b="1" dirty="0"/>
                        <a:t>-13’800’000’000.5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 err="1"/>
                        <a:t>DateTime</a:t>
                      </a:r>
                      <a:endParaRPr lang="de-CH" sz="800" b="1" dirty="0"/>
                    </a:p>
                    <a:p>
                      <a:r>
                        <a:rPr lang="de-CH" sz="800" b="1" dirty="0" err="1"/>
                        <a:t>DateTime.Now</a:t>
                      </a:r>
                      <a:endParaRPr lang="de-CH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String5</a:t>
                      </a:r>
                    </a:p>
                    <a:p>
                      <a:r>
                        <a:rPr lang="de-CH" sz="800" b="1" dirty="0"/>
                        <a:t>«123»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String</a:t>
                      </a:r>
                    </a:p>
                    <a:p>
                      <a:r>
                        <a:rPr lang="de-CH" sz="800" b="1" dirty="0"/>
                        <a:t>«</a:t>
                      </a:r>
                      <a:r>
                        <a:rPr lang="de-CH" sz="800" b="1" dirty="0" err="1"/>
                        <a:t>abcdefghij</a:t>
                      </a:r>
                      <a:r>
                        <a:rPr lang="de-CH" sz="800" b="1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 err="1"/>
                        <a:t>StringDateTime</a:t>
                      </a:r>
                      <a:endParaRPr lang="de-CH" sz="800" b="1" dirty="0"/>
                    </a:p>
                    <a:p>
                      <a:r>
                        <a:rPr lang="de-CH" sz="800" b="1" dirty="0"/>
                        <a:t>«31.12.2021»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 err="1"/>
                        <a:t>nullValue</a:t>
                      </a:r>
                      <a:endParaRPr lang="de-CH" sz="800" b="1" dirty="0"/>
                    </a:p>
                    <a:p>
                      <a:r>
                        <a:rPr lang="de-CH" sz="800" b="1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664421"/>
                  </a:ext>
                </a:extLst>
              </a:tr>
              <a:tr h="249634">
                <a:tc>
                  <a:txBody>
                    <a:bodyPr/>
                    <a:lstStyle/>
                    <a:p>
                      <a:r>
                        <a:rPr lang="de-CH" sz="800" dirty="0" err="1"/>
                        <a:t>Id</a:t>
                      </a:r>
                      <a:endParaRPr lang="de-CH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800" dirty="0" err="1"/>
                        <a:t>ObjID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32319"/>
                  </a:ext>
                </a:extLst>
              </a:tr>
              <a:tr h="249634">
                <a:tc>
                  <a:txBody>
                    <a:bodyPr/>
                    <a:lstStyle/>
                    <a:p>
                      <a:r>
                        <a:rPr lang="de-CH" sz="800" dirty="0" err="1"/>
                        <a:t>Geom</a:t>
                      </a:r>
                      <a:endParaRPr lang="de-CH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800" dirty="0" err="1"/>
                        <a:t>Geometry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15413"/>
                  </a:ext>
                </a:extLst>
              </a:tr>
              <a:tr h="249634">
                <a:tc>
                  <a:txBody>
                    <a:bodyPr/>
                    <a:lstStyle/>
                    <a:p>
                      <a:r>
                        <a:rPr lang="de-CH" sz="800" dirty="0" err="1"/>
                        <a:t>ObjktId</a:t>
                      </a:r>
                      <a:endParaRPr lang="de-CH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>
                          <a:solidFill>
                            <a:srgbClr val="FF66FF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077743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/>
                        <a:t>TextFeld3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63986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/>
                        <a:t>Textfeld60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844182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/>
                        <a:t>IntFeld</a:t>
                      </a:r>
                      <a:endParaRPr lang="de-CH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(c) </a:t>
                      </a:r>
                      <a:r>
                        <a:rPr lang="de-CH" sz="800" dirty="0">
                          <a:solidFill>
                            <a:srgbClr val="FF66FF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294437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/>
                        <a:t>Int64Feld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>
                          <a:solidFill>
                            <a:srgbClr val="FF66FF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74259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/>
                        <a:t>RealFeld</a:t>
                      </a:r>
                      <a:endParaRPr lang="de-CH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0034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/>
                        <a:t>DateFeld</a:t>
                      </a:r>
                      <a:endParaRPr lang="de-CH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891326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/>
                        <a:t>DateTimeFeld</a:t>
                      </a:r>
                      <a:endParaRPr lang="de-CH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035278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/>
                        <a:t>BoolFeld</a:t>
                      </a:r>
                      <a:endParaRPr lang="de-CH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24781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/>
                        <a:t>BlobFeld</a:t>
                      </a:r>
                      <a:endParaRPr lang="de-CH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 err="1"/>
                        <a:t>Blob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b="1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b="1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b="1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b="1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(c)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b="1" dirty="0"/>
                        <a:t>(c)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(c)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78646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>
                          <a:solidFill>
                            <a:schemeClr val="tx1"/>
                          </a:solidFill>
                        </a:rPr>
                        <a:t>Shape_Length</a:t>
                      </a:r>
                      <a:endParaRPr lang="de-CH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i="1" u="sng" dirty="0"/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i="1" u="sng" dirty="0"/>
                        <a:t>(r)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i="1" u="sng" dirty="0"/>
                        <a:t>(r)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i="1" u="sng" dirty="0"/>
                        <a:t>(r)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i="1" u="sng" dirty="0"/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i="1" u="sng" dirty="0"/>
                        <a:t>(r)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911434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>
                          <a:solidFill>
                            <a:schemeClr val="tx1"/>
                          </a:solidFill>
                        </a:rPr>
                        <a:t>Shape_Area</a:t>
                      </a:r>
                      <a:endParaRPr lang="de-CH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i="1" u="sng" dirty="0"/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i="1" u="sng" dirty="0"/>
                        <a:t>(r)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i="1" u="sng" dirty="0"/>
                        <a:t>(r)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i="1" u="sng" dirty="0"/>
                        <a:t>(r)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i="1" u="sng" dirty="0"/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i="1" u="sng" dirty="0"/>
                        <a:t>(r)</a:t>
                      </a:r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548258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/>
                        <a:t>Text300NotNullFeld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b="1" dirty="0"/>
                        <a:t>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301647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800" dirty="0" err="1"/>
                        <a:t>DateNotNullFeld</a:t>
                      </a:r>
                      <a:endParaRPr lang="de-CH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171104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164457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1000" dirty="0"/>
                        <a:t>Errors </a:t>
                      </a:r>
                      <a:r>
                        <a:rPr lang="de-CH" sz="1000" dirty="0" err="1"/>
                        <a:t>expected</a:t>
                      </a:r>
                      <a:endParaRPr lang="de-CH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7,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3</a:t>
                      </a:r>
                      <a:r>
                        <a:rPr lang="de-CH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10,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5</a:t>
                      </a:r>
                      <a:r>
                        <a:rPr lang="de-CH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11,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6</a:t>
                      </a:r>
                      <a:r>
                        <a:rPr lang="de-CH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12,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7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11,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7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7,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3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13,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10</a:t>
                      </a:r>
                      <a:r>
                        <a:rPr lang="de-CH" sz="1000" dirty="0"/>
                        <a:t>, 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10,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7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11,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12</a:t>
                      </a:r>
                      <a:r>
                        <a:rPr lang="de-CH" sz="1000" dirty="0"/>
                        <a:t>, 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969564"/>
                  </a:ext>
                </a:extLst>
              </a:tr>
              <a:tr h="249634">
                <a:tc gridSpan="2">
                  <a:txBody>
                    <a:bodyPr/>
                    <a:lstStyle/>
                    <a:p>
                      <a:r>
                        <a:rPr lang="de-CH" sz="1000" dirty="0" err="1"/>
                        <a:t>Valids</a:t>
                      </a:r>
                      <a:r>
                        <a:rPr lang="de-CH" sz="1000" dirty="0"/>
                        <a:t> </a:t>
                      </a:r>
                      <a:r>
                        <a:rPr lang="de-CH" sz="1000" dirty="0" err="1"/>
                        <a:t>expected</a:t>
                      </a:r>
                      <a:endParaRPr lang="de-CH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8,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9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5,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7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4,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6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3,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5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4,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5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8,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9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2,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2</a:t>
                      </a:r>
                      <a:r>
                        <a:rPr lang="de-CH" sz="1000" dirty="0"/>
                        <a:t>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5,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5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4, </a:t>
                      </a:r>
                      <a:r>
                        <a:rPr lang="de-CH" sz="1000" dirty="0">
                          <a:solidFill>
                            <a:srgbClr val="FFC000"/>
                          </a:solidFill>
                        </a:rPr>
                        <a:t>0</a:t>
                      </a:r>
                      <a:r>
                        <a:rPr lang="de-CH" sz="1000" dirty="0"/>
                        <a:t>, </a:t>
                      </a:r>
                      <a:r>
                        <a:rPr lang="de-CH" sz="1000" dirty="0">
                          <a:solidFill>
                            <a:srgbClr val="FF66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29657"/>
                  </a:ext>
                </a:extLst>
              </a:tr>
            </a:tbl>
          </a:graphicData>
        </a:graphic>
      </p:graphicFrame>
      <p:sp>
        <p:nvSpPr>
          <p:cNvPr id="2" name="Textfeld 1"/>
          <p:cNvSpPr txBox="1"/>
          <p:nvPr/>
        </p:nvSpPr>
        <p:spPr>
          <a:xfrm>
            <a:off x="6287679" y="5821724"/>
            <a:ext cx="12282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/>
              <a:t>r = </a:t>
            </a:r>
            <a:r>
              <a:rPr lang="de-CH" sz="1200" dirty="0" err="1"/>
              <a:t>read-only</a:t>
            </a:r>
            <a:endParaRPr lang="de-CH" sz="1200" dirty="0"/>
          </a:p>
          <a:p>
            <a:r>
              <a:rPr lang="de-CH" sz="1200" dirty="0"/>
              <a:t>c = </a:t>
            </a:r>
            <a:r>
              <a:rPr lang="de-CH" sz="1200" dirty="0" err="1"/>
              <a:t>cast</a:t>
            </a:r>
            <a:r>
              <a:rPr lang="de-CH" sz="1200" dirty="0"/>
              <a:t>-error</a:t>
            </a:r>
          </a:p>
          <a:p>
            <a:r>
              <a:rPr lang="de-CH" sz="1200" dirty="0"/>
              <a:t>l = </a:t>
            </a:r>
            <a:r>
              <a:rPr lang="de-CH" sz="1200" dirty="0" err="1"/>
              <a:t>length</a:t>
            </a:r>
            <a:r>
              <a:rPr lang="de-CH" sz="1200" dirty="0"/>
              <a:t>-limit</a:t>
            </a:r>
          </a:p>
          <a:p>
            <a:r>
              <a:rPr lang="de-CH" sz="1200" dirty="0"/>
              <a:t>n = not </a:t>
            </a:r>
            <a:r>
              <a:rPr lang="de-CH" sz="1200" dirty="0" err="1"/>
              <a:t>nullable</a:t>
            </a:r>
            <a:r>
              <a:rPr lang="de-CH" sz="1200" dirty="0"/>
              <a:t>  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63782" y="5821596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solidFill>
                  <a:srgbClr val="FFC000"/>
                </a:solidFill>
              </a:rPr>
              <a:t>SHP</a:t>
            </a:r>
            <a:r>
              <a:rPr lang="de-CH" sz="1200" dirty="0"/>
              <a:t>: 12 </a:t>
            </a:r>
            <a:r>
              <a:rPr lang="de-CH" sz="1200" dirty="0" err="1"/>
              <a:t>fields</a:t>
            </a:r>
            <a:endParaRPr lang="de-CH" sz="1200" dirty="0"/>
          </a:p>
        </p:txBody>
      </p:sp>
      <p:sp>
        <p:nvSpPr>
          <p:cNvPr id="8" name="Textfeld 7"/>
          <p:cNvSpPr txBox="1"/>
          <p:nvPr/>
        </p:nvSpPr>
        <p:spPr>
          <a:xfrm>
            <a:off x="753807" y="6098940"/>
            <a:ext cx="11388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solidFill>
                  <a:srgbClr val="FF66FF"/>
                </a:solidFill>
              </a:rPr>
              <a:t>GPKG</a:t>
            </a:r>
            <a:r>
              <a:rPr lang="de-CH" sz="1200" dirty="0"/>
              <a:t>: 14 </a:t>
            </a:r>
            <a:r>
              <a:rPr lang="de-CH" sz="1200" dirty="0" err="1"/>
              <a:t>fields</a:t>
            </a:r>
            <a:endParaRPr lang="de-CH" sz="1200" dirty="0"/>
          </a:p>
        </p:txBody>
      </p:sp>
      <p:sp>
        <p:nvSpPr>
          <p:cNvPr id="9" name="Textfeld 8"/>
          <p:cNvSpPr txBox="1"/>
          <p:nvPr/>
        </p:nvSpPr>
        <p:spPr>
          <a:xfrm>
            <a:off x="2005850" y="5844234"/>
            <a:ext cx="100059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de-CH" sz="1200" dirty="0"/>
              <a:t>Not </a:t>
            </a:r>
            <a:r>
              <a:rPr lang="de-CH" sz="1200" dirty="0" err="1"/>
              <a:t>available</a:t>
            </a:r>
            <a:endParaRPr lang="de-CH" sz="1200" dirty="0"/>
          </a:p>
        </p:txBody>
      </p:sp>
      <p:sp>
        <p:nvSpPr>
          <p:cNvPr id="11" name="Textfeld 10"/>
          <p:cNvSpPr txBox="1"/>
          <p:nvPr/>
        </p:nvSpPr>
        <p:spPr>
          <a:xfrm>
            <a:off x="2005850" y="6098595"/>
            <a:ext cx="1000595" cy="276999"/>
          </a:xfrm>
          <a:prstGeom prst="rect">
            <a:avLst/>
          </a:prstGeom>
          <a:solidFill>
            <a:srgbClr val="FF66FF"/>
          </a:solidFill>
        </p:spPr>
        <p:txBody>
          <a:bodyPr wrap="none" rtlCol="0">
            <a:spAutoFit/>
          </a:bodyPr>
          <a:lstStyle/>
          <a:p>
            <a:r>
              <a:rPr lang="de-CH" sz="1200" dirty="0"/>
              <a:t>Not </a:t>
            </a:r>
            <a:r>
              <a:rPr lang="de-CH" sz="1200" dirty="0" err="1"/>
              <a:t>available</a:t>
            </a:r>
            <a:endParaRPr lang="de-CH" sz="1200" dirty="0"/>
          </a:p>
        </p:txBody>
      </p:sp>
      <p:sp>
        <p:nvSpPr>
          <p:cNvPr id="12" name="Textfeld 11"/>
          <p:cNvSpPr txBox="1"/>
          <p:nvPr/>
        </p:nvSpPr>
        <p:spPr>
          <a:xfrm>
            <a:off x="753807" y="6388792"/>
            <a:ext cx="1133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solidFill>
                  <a:srgbClr val="002060"/>
                </a:solidFill>
              </a:rPr>
              <a:t>FGDB</a:t>
            </a:r>
            <a:r>
              <a:rPr lang="de-CH" sz="1200" dirty="0"/>
              <a:t>: 13 </a:t>
            </a:r>
            <a:r>
              <a:rPr lang="de-CH" sz="1200" dirty="0" err="1"/>
              <a:t>fields</a:t>
            </a:r>
            <a:endParaRPr lang="de-CH" sz="1200" dirty="0"/>
          </a:p>
        </p:txBody>
      </p:sp>
      <p:sp>
        <p:nvSpPr>
          <p:cNvPr id="13" name="Textfeld 12"/>
          <p:cNvSpPr txBox="1"/>
          <p:nvPr/>
        </p:nvSpPr>
        <p:spPr>
          <a:xfrm>
            <a:off x="2005850" y="6388447"/>
            <a:ext cx="1000595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e-CH" sz="1200" dirty="0"/>
              <a:t>Not </a:t>
            </a:r>
            <a:r>
              <a:rPr lang="de-CH" sz="1200" dirty="0" err="1"/>
              <a:t>available</a:t>
            </a:r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2038226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86" y="670538"/>
            <a:ext cx="9383434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12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Breitbild</PresentationFormat>
  <Paragraphs>250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hr</dc:creator>
  <cp:lastModifiedBy>Helmut Recher</cp:lastModifiedBy>
  <cp:revision>52</cp:revision>
  <cp:lastPrinted>2022-01-25T14:57:31Z</cp:lastPrinted>
  <dcterms:created xsi:type="dcterms:W3CDTF">2021-08-01T09:11:28Z</dcterms:created>
  <dcterms:modified xsi:type="dcterms:W3CDTF">2024-07-14T08:23:04Z</dcterms:modified>
</cp:coreProperties>
</file>